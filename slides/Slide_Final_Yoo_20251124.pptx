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74" r:id="rId3"/>
    <p:sldId id="272" r:id="rId4"/>
    <p:sldId id="273" r:id="rId5"/>
    <p:sldId id="287" r:id="rId6"/>
    <p:sldId id="290" r:id="rId7"/>
    <p:sldId id="291" r:id="rId8"/>
    <p:sldId id="282" r:id="rId9"/>
    <p:sldId id="294" r:id="rId10"/>
    <p:sldId id="278" r:id="rId11"/>
    <p:sldId id="270" r:id="rId12"/>
    <p:sldId id="288" r:id="rId13"/>
    <p:sldId id="292" r:id="rId14"/>
    <p:sldId id="289" r:id="rId15"/>
    <p:sldId id="295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7" autoAdjust="0"/>
    <p:restoredTop sz="96357" autoAdjust="0"/>
  </p:normalViewPr>
  <p:slideViewPr>
    <p:cSldViewPr snapToGrid="0" showGuides="1">
      <p:cViewPr varScale="1">
        <p:scale>
          <a:sx n="94" d="100"/>
          <a:sy n="94" d="100"/>
        </p:scale>
        <p:origin x="427" y="7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6096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803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92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174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08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989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93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987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18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835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027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3658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6E7A0-3223-4FB7-B116-BDF8C302450D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DF1EF-3C3C-470B-A6FD-6D8E3FEB3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01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30000"/>
        </a:lnSpc>
        <a:spcBef>
          <a:spcPts val="6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30000"/>
        </a:lnSpc>
        <a:spcBef>
          <a:spcPts val="6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3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30000"/>
        </a:lnSpc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30000"/>
        </a:lnSpc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45D1987-E235-4A42-BB90-52B52DE6C9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marL="0" marR="0" indent="0" fontAlgn="base" latinLnBrk="1">
              <a:lnSpc>
                <a:spcPct val="182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6000" b="1" kern="0" spc="-50" dirty="0">
                <a:solidFill>
                  <a:srgbClr val="000000"/>
                </a:solidFill>
                <a:effectLst/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출생지역별 인구구조 변화 분석</a:t>
            </a:r>
            <a:endParaRPr lang="ko-KR" altLang="en-US" dirty="0"/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0CE70863-02EE-46F9-A7A0-BFC0942FD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주요결과 </a:t>
            </a:r>
          </a:p>
        </p:txBody>
      </p:sp>
    </p:spTree>
    <p:extLst>
      <p:ext uri="{BB962C8B-B14F-4D97-AF65-F5344CB8AC3E}">
        <p14:creationId xmlns:p14="http://schemas.microsoft.com/office/powerpoint/2010/main" val="46258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49FD0F-BD31-4502-A261-FF8C3305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2020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지역별 인구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VS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출생지별 인구</a:t>
            </a:r>
            <a:b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00172A8-8539-45AA-9EA0-520E8F6E27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823" y="1144588"/>
            <a:ext cx="9522354" cy="5713412"/>
          </a:xfrm>
        </p:spPr>
      </p:pic>
    </p:spTree>
    <p:extLst>
      <p:ext uri="{BB962C8B-B14F-4D97-AF65-F5344CB8AC3E}">
        <p14:creationId xmlns:p14="http://schemas.microsoft.com/office/powerpoint/2010/main" val="1338245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2D7DF4-5ED0-4F81-9508-05001C833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2020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</a:t>
            </a:r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전남 출생 현 거주지 </a:t>
            </a:r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VS 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전남 거주민 출생지</a:t>
            </a:r>
            <a:b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28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C787411-9CF5-4A2A-B717-C461715D8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142591"/>
            <a:ext cx="9529010" cy="5717406"/>
          </a:xfrm>
        </p:spPr>
      </p:pic>
    </p:spTree>
    <p:extLst>
      <p:ext uri="{BB962C8B-B14F-4D97-AF65-F5344CB8AC3E}">
        <p14:creationId xmlns:p14="http://schemas.microsoft.com/office/powerpoint/2010/main" val="222496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BB79FE-6258-445F-A61F-E04229772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대 권역</a:t>
            </a:r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2020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 서울 출생 현 거주지 </a:t>
            </a:r>
            <a: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VS </a:t>
            </a:r>
            <a: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 거주민 출생지</a:t>
            </a:r>
            <a:br>
              <a:rPr lang="en-US" altLang="ko-KR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ko-KR" altLang="en-US" sz="2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28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08005E7-14C2-47A9-9DAD-5AEE5429B1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61" y="1126671"/>
            <a:ext cx="9582078" cy="5749246"/>
          </a:xfrm>
        </p:spPr>
      </p:pic>
    </p:spTree>
    <p:extLst>
      <p:ext uri="{BB962C8B-B14F-4D97-AF65-F5344CB8AC3E}">
        <p14:creationId xmlns:p14="http://schemas.microsoft.com/office/powerpoint/2010/main" val="3037907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40632"/>
            <a:ext cx="10515600" cy="1325563"/>
          </a:xfrm>
        </p:spPr>
        <p:txBody>
          <a:bodyPr>
            <a:noAutofit/>
          </a:bodyPr>
          <a:lstStyle/>
          <a:p>
            <a: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대 권역</a:t>
            </a:r>
            <a: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2020 ‘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</a:t>
            </a:r>
            <a: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‘ 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 현 거주지 </a:t>
            </a:r>
            <a: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VS ‘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</a:t>
            </a:r>
            <a: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’ </a:t>
            </a:r>
            <a:r>
              <a:rPr lang="ko-KR" altLang="en-US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거주민 출생지</a:t>
            </a:r>
            <a:b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2800" dirty="0">
                <a:solidFill>
                  <a:prstClr val="black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4" name="Picture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9904" y="1156690"/>
            <a:ext cx="9509780" cy="5705867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270483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CA81B-A52E-40A2-8BD0-4DA52D108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시도별 및 성별 청년 인구 잔류비율</a:t>
            </a:r>
            <a: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(PPNYR), 2020</a:t>
            </a:r>
            <a:b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32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B2F8DA9-AFBD-42D0-B5DF-9D13266A7C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418" y="903703"/>
            <a:ext cx="9291164" cy="557469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9531C7-5A0B-4404-9D49-C88641B42C97}"/>
              </a:ext>
            </a:extLst>
          </p:cNvPr>
          <p:cNvSpPr txBox="1"/>
          <p:nvPr/>
        </p:nvSpPr>
        <p:spPr>
          <a:xfrm>
            <a:off x="838200" y="6478401"/>
            <a:ext cx="73565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주</a:t>
            </a:r>
            <a:r>
              <a:rPr lang="en-US" altLang="ko-KR" sz="1400" dirty="0"/>
              <a:t>: </a:t>
            </a:r>
            <a:r>
              <a:rPr lang="ko-KR" altLang="en-US" sz="1400" dirty="0"/>
              <a:t>연령별 토박이 비율을 토대로 작성한 각 지역 출생 인구가 </a:t>
            </a:r>
            <a:r>
              <a:rPr lang="en-US" altLang="ko-KR" sz="1400" dirty="0"/>
              <a:t>35</a:t>
            </a:r>
            <a:r>
              <a:rPr lang="ko-KR" altLang="en-US" sz="1400" dirty="0"/>
              <a:t>세까지 해당 지역에 잔류할 비율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8563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18FE50-31AB-498B-AF51-2589C9872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r>
              <a:rPr lang="ko-KR" altLang="en-US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대 </a:t>
            </a:r>
            <a:r>
              <a:rPr lang="ko-KR" altLang="en-US" sz="32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권역별</a:t>
            </a:r>
            <a:r>
              <a:rPr lang="ko-KR" altLang="en-US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연령별 청년 인구 잔류비율</a:t>
            </a:r>
            <a: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(PPNYR), 2020</a:t>
            </a:r>
            <a:b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2C668F4-3720-4671-9690-C6810A9AD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007" y="783327"/>
            <a:ext cx="9637986" cy="578279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D61A70-CAC6-45E0-8D91-F3E2CF66EFBA}"/>
              </a:ext>
            </a:extLst>
          </p:cNvPr>
          <p:cNvSpPr txBox="1"/>
          <p:nvPr/>
        </p:nvSpPr>
        <p:spPr>
          <a:xfrm>
            <a:off x="838200" y="6478401"/>
            <a:ext cx="73565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주</a:t>
            </a:r>
            <a:r>
              <a:rPr lang="en-US" altLang="ko-KR" sz="1400" dirty="0"/>
              <a:t>: </a:t>
            </a:r>
            <a:r>
              <a:rPr lang="ko-KR" altLang="en-US" sz="1400" dirty="0"/>
              <a:t>연령별 토박이 비율을 토대로 작성한 각 지역 출생 인구가 </a:t>
            </a:r>
            <a:r>
              <a:rPr lang="en-US" altLang="ko-KR" sz="1400" dirty="0"/>
              <a:t>35</a:t>
            </a:r>
            <a:r>
              <a:rPr lang="ko-KR" altLang="en-US" sz="1400" dirty="0"/>
              <a:t>세까지 해당 지역에 잔류할 비율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01098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7D9CDE-256B-473B-A099-68C6A2707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주요 결과 요약 및 함의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7787D0-8407-400D-851E-537F19F91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출생지역별 인구구조의 특징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인구의 장기간 수도권 집중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인구이동의 활력과 역동성 감소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인구유출 지역에서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해당 지역 출신 위주의 인구 구성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2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지역사회 정체 및 동질성 강화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다양성의 약화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수도권과 광역시의 높은 인구 유지 역량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일자리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+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주거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2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제주의 높은 인구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잔류율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VS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서울의 상대적으로 낮은 인구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잔류율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출생지 기준 인구구조 분석의 효용성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지역 불균형과 인구변동의 차별성 시각화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청년인구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잔류율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지역의 인구 유지 및 유출 수준의 지표화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지방소멸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 집중 대응을 위한 기초 자료로 활용 가능성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960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45D1987-E235-4A42-BB90-52B52DE6C9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marL="0" marR="0" indent="0" fontAlgn="base" latinLnBrk="1">
              <a:lnSpc>
                <a:spcPct val="182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6000" b="1" kern="0" spc="-50" dirty="0">
                <a:solidFill>
                  <a:srgbClr val="000000"/>
                </a:solidFill>
                <a:effectLst/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출생지역별 출산 수준 및 변화</a:t>
            </a:r>
            <a:endParaRPr lang="ko-KR" altLang="en-US" dirty="0"/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0CE70863-02EE-46F9-A7A0-BFC0942FD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주요결과 </a:t>
            </a:r>
          </a:p>
        </p:txBody>
      </p:sp>
    </p:spTree>
    <p:extLst>
      <p:ext uri="{BB962C8B-B14F-4D97-AF65-F5344CB8AC3E}">
        <p14:creationId xmlns:p14="http://schemas.microsoft.com/office/powerpoint/2010/main" val="18738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8BAFB-BBC4-4677-ACFF-AF41C0B97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출생지별 여성의 코호트 완결출산율</a:t>
            </a:r>
            <a:br>
              <a:rPr lang="en-US" altLang="ko-KR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36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62A98CC2-58B4-481F-9FE4-3DA6475A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800" y="1290727"/>
            <a:ext cx="9042400" cy="5421134"/>
          </a:xfrm>
        </p:spPr>
      </p:pic>
    </p:spTree>
    <p:extLst>
      <p:ext uri="{BB962C8B-B14F-4D97-AF65-F5344CB8AC3E}">
        <p14:creationId xmlns:p14="http://schemas.microsoft.com/office/powerpoint/2010/main" val="262788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EBAAD-E21F-4AB5-8883-8D0EC800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현 거주지 및 출생지별 여성의 코호트 완결출산율</a:t>
            </a:r>
            <a:br>
              <a:rPr lang="en-US" altLang="ko-KR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36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pic>
        <p:nvPicPr>
          <p:cNvPr id="19" name="내용 개체 틀 18">
            <a:extLst>
              <a:ext uri="{FF2B5EF4-FFF2-40B4-BE49-F238E27FC236}">
                <a16:creationId xmlns:a16="http://schemas.microsoft.com/office/drawing/2014/main" id="{49314135-18DF-44AB-B490-8378AD1E3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824" y="1144588"/>
            <a:ext cx="9522352" cy="5713412"/>
          </a:xfrm>
        </p:spPr>
      </p:pic>
    </p:spTree>
    <p:extLst>
      <p:ext uri="{BB962C8B-B14F-4D97-AF65-F5344CB8AC3E}">
        <p14:creationId xmlns:p14="http://schemas.microsoft.com/office/powerpoint/2010/main" val="1350768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222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코호트 완결출산율의 출생지 또는 거주지별 인구학적 분해분석</a:t>
            </a:r>
            <a:br>
              <a:rPr lang="en-US" altLang="ko-KR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r>
              <a:rPr lang="ko-KR" altLang="en-US" sz="32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0838020"/>
              </p:ext>
            </p:extLst>
          </p:nvPr>
        </p:nvGraphicFramePr>
        <p:xfrm>
          <a:off x="838200" y="782976"/>
          <a:ext cx="10515600" cy="5501364"/>
        </p:xfrm>
        <a:graphic>
          <a:graphicData uri="http://schemas.openxmlformats.org/drawingml/2006/table">
            <a:tbl>
              <a:tblPr/>
              <a:tblGrid>
                <a:gridCol w="1835558">
                  <a:extLst>
                    <a:ext uri="{9D8B030D-6E8A-4147-A177-3AD203B41FA5}">
                      <a16:colId xmlns:a16="http://schemas.microsoft.com/office/drawing/2014/main" val="2847414728"/>
                    </a:ext>
                  </a:extLst>
                </a:gridCol>
                <a:gridCol w="1337810">
                  <a:extLst>
                    <a:ext uri="{9D8B030D-6E8A-4147-A177-3AD203B41FA5}">
                      <a16:colId xmlns:a16="http://schemas.microsoft.com/office/drawing/2014/main" val="55602176"/>
                    </a:ext>
                  </a:extLst>
                </a:gridCol>
                <a:gridCol w="1835558">
                  <a:extLst>
                    <a:ext uri="{9D8B030D-6E8A-4147-A177-3AD203B41FA5}">
                      <a16:colId xmlns:a16="http://schemas.microsoft.com/office/drawing/2014/main" val="2315932745"/>
                    </a:ext>
                  </a:extLst>
                </a:gridCol>
                <a:gridCol w="1835558">
                  <a:extLst>
                    <a:ext uri="{9D8B030D-6E8A-4147-A177-3AD203B41FA5}">
                      <a16:colId xmlns:a16="http://schemas.microsoft.com/office/drawing/2014/main" val="575616718"/>
                    </a:ext>
                  </a:extLst>
                </a:gridCol>
                <a:gridCol w="1835558">
                  <a:extLst>
                    <a:ext uri="{9D8B030D-6E8A-4147-A177-3AD203B41FA5}">
                      <a16:colId xmlns:a16="http://schemas.microsoft.com/office/drawing/2014/main" val="1936313473"/>
                    </a:ext>
                  </a:extLst>
                </a:gridCol>
                <a:gridCol w="1835558">
                  <a:extLst>
                    <a:ext uri="{9D8B030D-6E8A-4147-A177-3AD203B41FA5}">
                      <a16:colId xmlns:a16="http://schemas.microsoft.com/office/drawing/2014/main" val="3833136603"/>
                    </a:ext>
                  </a:extLst>
                </a:gridCol>
              </a:tblGrid>
              <a:tr h="552781"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유형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구분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출산율 변화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1951-1955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1961-1965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1961-1965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1971-1975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1971-1975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  <a:p>
                      <a:pPr marL="0" marR="0" indent="13335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1981-1985</a:t>
                      </a: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년생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950132"/>
                  </a:ext>
                </a:extLst>
              </a:tr>
              <a:tr h="357044">
                <a:tc rowSpan="6"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출생지 기준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구성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-0.014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-0.019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-0.030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503532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1.2%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5.4%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10.8%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5393362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-1.164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-0.333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-0.247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841029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98.8%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94.6%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88.8%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5109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합계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-1.178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-0.352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-0.278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1017152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100.2%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100.0%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100.0%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8199939"/>
                  </a:ext>
                </a:extLst>
              </a:tr>
              <a:tr h="357044">
                <a:tc rowSpan="6"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거주지 기준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구성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-0.116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0.013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-0.001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341078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9.8%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-3.7%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0.4%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3396037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-1.062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-0.365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-0.277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8317622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90.2%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103.7%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99.6%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6961176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합계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절대값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-1.178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-0.352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-0.278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7250814"/>
                  </a:ext>
                </a:extLst>
              </a:tr>
              <a:tr h="3570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600" kern="0" spc="-20" baseline="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just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백분율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100.2%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100.0%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254000" indent="133350" algn="r" fontAlgn="base" latinLnBrk="1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kern="0" spc="-20" baseline="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100.0%</a:t>
                      </a:r>
                    </a:p>
                  </a:txBody>
                  <a:tcPr marL="6144" marR="6144" marT="6144" marB="6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82286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695EE0B-9ABC-4A26-9BA1-78C708317C73}"/>
              </a:ext>
            </a:extLst>
          </p:cNvPr>
          <p:cNvSpPr txBox="1"/>
          <p:nvPr/>
        </p:nvSpPr>
        <p:spPr>
          <a:xfrm>
            <a:off x="838200" y="6353063"/>
            <a:ext cx="9267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두 여성 </a:t>
            </a:r>
            <a:r>
              <a:rPr lang="ko-KR" altLang="en-US" sz="14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출생코호트의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완결출산율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(45-49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세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을 출생지 기준 또는 거주지 기준 구성과 출산율로 분해분석한 결과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; 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가중치 적용</a:t>
            </a:r>
          </a:p>
        </p:txBody>
      </p:sp>
    </p:spTree>
    <p:extLst>
      <p:ext uri="{BB962C8B-B14F-4D97-AF65-F5344CB8AC3E}">
        <p14:creationId xmlns:p14="http://schemas.microsoft.com/office/powerpoint/2010/main" val="1678909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70AFEB-C932-4963-BB78-7C96507A1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061"/>
            <a:ext cx="10515600" cy="1325563"/>
          </a:xfrm>
        </p:spPr>
        <p:txBody>
          <a:bodyPr>
            <a:noAutofit/>
          </a:bodyPr>
          <a:lstStyle/>
          <a:p>
            <a:r>
              <a:rPr lang="ko-KR" altLang="en-US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여성</a:t>
            </a:r>
            <a:r>
              <a:rPr lang="en-US" altLang="ko-KR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(15-49</a:t>
            </a:r>
            <a:r>
              <a:rPr lang="ko-KR" altLang="en-US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세</a:t>
            </a:r>
            <a:r>
              <a:rPr lang="en-US" altLang="ko-KR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의 </a:t>
            </a:r>
            <a:r>
              <a:rPr lang="ko-KR" altLang="en-US" sz="24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총출생아수에</a:t>
            </a:r>
            <a:r>
              <a:rPr lang="ko-KR" altLang="en-US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관한 </a:t>
            </a:r>
            <a:r>
              <a:rPr lang="ko-KR" altLang="en-US" sz="24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포아송</a:t>
            </a:r>
            <a:r>
              <a:rPr lang="ko-KR" altLang="en-US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회귀분석 결과</a:t>
            </a:r>
            <a:r>
              <a:rPr lang="en-US" altLang="ko-KR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1990-2020</a:t>
            </a:r>
            <a:br>
              <a:rPr lang="en-US" altLang="ko-KR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2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2400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81DC406-C151-4B78-AAE2-0751CEC05D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3513774"/>
              </p:ext>
            </p:extLst>
          </p:nvPr>
        </p:nvGraphicFramePr>
        <p:xfrm>
          <a:off x="838202" y="527564"/>
          <a:ext cx="10515598" cy="575958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59662">
                  <a:extLst>
                    <a:ext uri="{9D8B030D-6E8A-4147-A177-3AD203B41FA5}">
                      <a16:colId xmlns:a16="http://schemas.microsoft.com/office/drawing/2014/main" val="1294171400"/>
                    </a:ext>
                  </a:extLst>
                </a:gridCol>
                <a:gridCol w="1863984">
                  <a:extLst>
                    <a:ext uri="{9D8B030D-6E8A-4147-A177-3AD203B41FA5}">
                      <a16:colId xmlns:a16="http://schemas.microsoft.com/office/drawing/2014/main" val="405399436"/>
                    </a:ext>
                  </a:extLst>
                </a:gridCol>
                <a:gridCol w="1863984">
                  <a:extLst>
                    <a:ext uri="{9D8B030D-6E8A-4147-A177-3AD203B41FA5}">
                      <a16:colId xmlns:a16="http://schemas.microsoft.com/office/drawing/2014/main" val="1449992310"/>
                    </a:ext>
                  </a:extLst>
                </a:gridCol>
                <a:gridCol w="1863984">
                  <a:extLst>
                    <a:ext uri="{9D8B030D-6E8A-4147-A177-3AD203B41FA5}">
                      <a16:colId xmlns:a16="http://schemas.microsoft.com/office/drawing/2014/main" val="4159378703"/>
                    </a:ext>
                  </a:extLst>
                </a:gridCol>
                <a:gridCol w="1863984">
                  <a:extLst>
                    <a:ext uri="{9D8B030D-6E8A-4147-A177-3AD203B41FA5}">
                      <a16:colId xmlns:a16="http://schemas.microsoft.com/office/drawing/2014/main" val="1952882212"/>
                    </a:ext>
                  </a:extLst>
                </a:gridCol>
              </a:tblGrid>
              <a:tr h="279997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변수</a:t>
                      </a:r>
                    </a:p>
                  </a:txBody>
                  <a:tcPr marL="2869" marR="2869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1990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</a:t>
                      </a:r>
                    </a:p>
                  </a:txBody>
                  <a:tcPr marL="2869" marR="2869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2000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</a:t>
                      </a:r>
                    </a:p>
                  </a:txBody>
                  <a:tcPr marL="2869" marR="2869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2010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</a:t>
                      </a:r>
                    </a:p>
                  </a:txBody>
                  <a:tcPr marL="2869" marR="2869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2020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년</a:t>
                      </a:r>
                    </a:p>
                  </a:txBody>
                  <a:tcPr marL="2869" marR="2869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1519283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출생지역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(Ref. </a:t>
                      </a: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서울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57673470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서울 외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0.040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0.031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0.022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0.016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890698406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(0.008)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3268627977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광역시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 외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0.019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0.017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0.022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0.022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3097468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(0.010)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(0.008)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381986146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도 지역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 외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0.063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0.056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0.060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0.054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3110383100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(0.008)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676486061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해외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0.009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-0.043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-0.006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0.019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1057610232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3335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(0.018)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(0.018)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(0.017)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(0.016)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2900460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거주지역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(Ref. </a:t>
                      </a:r>
                      <a:r>
                        <a:rPr lang="ko-KR" alt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서울</a:t>
                      </a:r>
                      <a:r>
                        <a:rPr lang="en-US" altLang="ko-KR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13227332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서울 외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0.023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0.032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0.048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0.057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1058416395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(0.006)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(0.006)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(0.008)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1980703526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광역시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 외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0.030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0.035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0.057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0.084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3514748192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(0.006)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(0.008)</a:t>
                      </a: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640731188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6256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도 지역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</a:t>
                      </a:r>
                      <a:r>
                        <a:rPr lang="ko-KR" alt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수도권 외</a:t>
                      </a:r>
                      <a:r>
                        <a:rPr lang="en-US" altLang="ko-KR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)</a:t>
                      </a: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0.134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0.075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0.094</a:t>
                      </a:r>
                      <a:r>
                        <a:rPr lang="en-US" sz="1300" kern="0" spc="-20" baseline="3000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0.105</a:t>
                      </a:r>
                      <a:r>
                        <a:rPr lang="en-US" sz="1300" kern="0" spc="-20" baseline="3000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***</a:t>
                      </a:r>
                      <a:endParaRPr 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/>
                </a:tc>
                <a:extLst>
                  <a:ext uri="{0D108BD9-81ED-4DB2-BD59-A6C34878D82A}">
                    <a16:rowId xmlns:a16="http://schemas.microsoft.com/office/drawing/2014/main" val="132606640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13335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(0.005)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(0.006)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(0.007)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(0.009)</a:t>
                      </a:r>
                    </a:p>
                  </a:txBody>
                  <a:tcPr marL="2869" marR="2869" marT="0" marB="0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2541987"/>
                  </a:ext>
                </a:extLst>
              </a:tr>
              <a:tr h="279997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kern="0" spc="-20" dirty="0" err="1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사례수</a:t>
                      </a:r>
                      <a:endParaRPr lang="ko-KR" altLang="en-US" sz="13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234,112</a:t>
                      </a: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236,941</a:t>
                      </a: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217,653</a:t>
                      </a: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kern="0" spc="-20" dirty="0">
                          <a:solidFill>
                            <a:srgbClr val="000000"/>
                          </a:solidFill>
                          <a:effectLst/>
                          <a:latin typeface="나눔바른고딕" panose="020B0603020101020101" pitchFamily="50" charset="-127"/>
                          <a:ea typeface="나눔바른고딕" panose="020B0603020101020101" pitchFamily="50" charset="-127"/>
                        </a:rPr>
                        <a:t>202,566</a:t>
                      </a:r>
                    </a:p>
                  </a:txBody>
                  <a:tcPr marL="2869" marR="2869" marT="0" marB="0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264811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C29D7CF-138B-4D52-8561-53034666C64C}"/>
              </a:ext>
            </a:extLst>
          </p:cNvPr>
          <p:cNvSpPr txBox="1"/>
          <p:nvPr/>
        </p:nvSpPr>
        <p:spPr>
          <a:xfrm>
            <a:off x="838200" y="6353063"/>
            <a:ext cx="7382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각 모형은 제시된 변수 외에 </a:t>
            </a:r>
            <a:r>
              <a:rPr lang="ko-KR" altLang="en-US" sz="14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초혼연령</a:t>
            </a:r>
            <a:r>
              <a:rPr lang="en-US" altLang="ko-KR" sz="14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4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현재 연령</a:t>
            </a:r>
            <a:r>
              <a:rPr lang="en-US" altLang="ko-KR" sz="14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4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교육수준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 포함되었으며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표준화 가중치 적용됨</a:t>
            </a:r>
            <a:r>
              <a:rPr lang="en-US" altLang="ko-KR" sz="14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.</a:t>
            </a:r>
            <a:endParaRPr lang="ko-KR" altLang="en-US" sz="14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3614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sz="36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총출생아수에</a:t>
            </a:r>
            <a:r>
              <a:rPr lang="ko-KR" altLang="en-US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관한 </a:t>
            </a:r>
            <a:r>
              <a:rPr lang="ko-KR" altLang="en-US" sz="36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포아송</a:t>
            </a:r>
            <a:r>
              <a:rPr lang="ko-KR" altLang="en-US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회귀 기반 </a:t>
            </a:r>
            <a:r>
              <a:rPr lang="en-US" altLang="ko-KR" sz="36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Oxaca</a:t>
            </a:r>
            <a:r>
              <a:rPr lang="en-US" altLang="ko-KR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-Blinder </a:t>
            </a:r>
            <a:r>
              <a:rPr lang="ko-KR" altLang="en-US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분해분석</a:t>
            </a:r>
            <a:br>
              <a:rPr lang="en-US" altLang="ko-KR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br>
              <a:rPr lang="en-US" altLang="ko-KR" sz="36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endParaRPr lang="ko-KR" altLang="en-US" sz="360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4955764"/>
              </p:ext>
            </p:extLst>
          </p:nvPr>
        </p:nvGraphicFramePr>
        <p:xfrm>
          <a:off x="764722" y="838652"/>
          <a:ext cx="10515600" cy="590560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6775555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2093333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106590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507787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52705769"/>
                    </a:ext>
                  </a:extLst>
                </a:gridCol>
              </a:tblGrid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변수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구분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1990-2010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2010-2015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2015-2020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7438225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출생지역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0.226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0.087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0.124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911853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0.097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0.023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0.016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142018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144411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거주지역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442465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829773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466570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초혼연령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0.166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0.037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0.028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67842478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0.157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0.073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0.111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extLst>
                  <a:ext uri="{0D108BD9-81ED-4DB2-BD59-A6C34878D82A}">
                    <a16:rowId xmlns:a16="http://schemas.microsoft.com/office/drawing/2014/main" val="3984255760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137459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연령집단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0.595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0.137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41223569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0.272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0.020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extLst>
                  <a:ext uri="{0D108BD9-81ED-4DB2-BD59-A6C34878D82A}">
                    <a16:rowId xmlns:a16="http://schemas.microsoft.com/office/drawing/2014/main" val="4199777702"/>
                  </a:ext>
                </a:extLst>
              </a:tr>
              <a:tr h="340589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5376006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교육수준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0.339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0.105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0.128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20943820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0.016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0.005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0.011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extLst>
                  <a:ext uri="{0D108BD9-81ED-4DB2-BD59-A6C34878D82A}">
                    <a16:rowId xmlns:a16="http://schemas.microsoft.com/office/drawing/2014/main" val="2645269526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0.323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0.110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ko-KR" alt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−</a:t>
                      </a:r>
                      <a:r>
                        <a:rPr lang="en-US" altLang="ko-KR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0.139</a:t>
                      </a:r>
                      <a:endParaRPr lang="ko-KR" alt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7874437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총효과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계수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-1.648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-0.471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-0.556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706461005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구성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0.033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-0.078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-0.141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/>
                </a:tc>
                <a:extLst>
                  <a:ext uri="{0D108BD9-81ED-4DB2-BD59-A6C34878D82A}">
                    <a16:rowId xmlns:a16="http://schemas.microsoft.com/office/drawing/2014/main" val="3584113636"/>
                  </a:ext>
                </a:extLst>
              </a:tr>
              <a:tr h="267234"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133350" algn="ct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전체</a:t>
                      </a:r>
                      <a:endParaRPr lang="ko-KR" alt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7031" marT="7031" marB="7031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>
                          <a:solidFill>
                            <a:srgbClr val="000000"/>
                          </a:solidFill>
                          <a:effectLst/>
                        </a:rPr>
                        <a:t>-1.615</a:t>
                      </a:r>
                      <a:endParaRPr lang="en-US" sz="1200" kern="0" spc="-2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-0.550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99390" indent="0" algn="r" fontAlgn="base" latinLnBrk="0">
                        <a:lnSpc>
                          <a:spcPct val="18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40000" algn="r"/>
                        </a:tabLst>
                      </a:pPr>
                      <a:r>
                        <a:rPr lang="en-US" sz="1200" kern="0" spc="-20" dirty="0">
                          <a:solidFill>
                            <a:srgbClr val="000000"/>
                          </a:solidFill>
                          <a:effectLst/>
                        </a:rPr>
                        <a:t>-0.697</a:t>
                      </a:r>
                      <a:endParaRPr lang="en-US" sz="1200" kern="0" spc="-20" dirty="0">
                        <a:solidFill>
                          <a:srgbClr val="000000"/>
                        </a:solidFill>
                        <a:effectLst/>
                        <a:latin typeface="나눔바른고딕" panose="020B0603020101020101" pitchFamily="50" charset="-127"/>
                        <a:ea typeface="나눔바른고딕" panose="020B0603020101020101" pitchFamily="50" charset="-127"/>
                      </a:endParaRPr>
                    </a:p>
                  </a:txBody>
                  <a:tcPr marL="7031" marR="540000" marT="7031" marB="7031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72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148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7D9CDE-256B-473B-A099-68C6A2707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주요 결과 요약 및 함의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7787D0-8407-400D-851E-537F19F91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출생지역에 따른 코호트 완결출산율 차이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코호트 완결출산율 수준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광역시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코호트 완결출산율 차이는 거의 대부분 지역별 출산율의 변화로 설명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다만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 구성의 변화에 따른 설명력이 상대적으로 증가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주거지 구성 보다 높음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출생지역에 따른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총출생아수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차이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다른 조건이 동일하다면 출생지역별 평균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출생아수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광역시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2"/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1990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2000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“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광역시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”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이었으나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2010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년 이후 변동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2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거구지역은 계속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“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도 지역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광역시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수도권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&gt;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서울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”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유지 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비선형회귀 분해분석 결과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출생아수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변화는 주로 각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구성별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출산율 변화로 설명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예컨대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2015-2020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평균 </a:t>
            </a:r>
            <a:r>
              <a:rPr lang="ko-KR" altLang="en-US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출생아수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변화의 약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1/5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을 구성변화가 설명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</a:p>
          <a:p>
            <a:pPr lvl="2"/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주로 초혼연령 구성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+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일부 출생지 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&amp;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교육수준 구성</a:t>
            </a:r>
            <a:r>
              <a:rPr lang="en-US" altLang="ko-KR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거주지 구성 변화의 공헌은 거의 없음</a:t>
            </a:r>
            <a:endParaRPr lang="en-US" altLang="ko-KR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4973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Arial"/>
        <a:ea typeface="나눔고딕"/>
        <a:cs typeface=""/>
      </a:majorFont>
      <a:minorFont>
        <a:latin typeface="Arial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3779</TotalTime>
  <Words>879</Words>
  <Application>Microsoft Office PowerPoint</Application>
  <PresentationFormat>와이드스크린</PresentationFormat>
  <Paragraphs>265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KoPub돋움체 Bold</vt:lpstr>
      <vt:lpstr>나눔바른고딕</vt:lpstr>
      <vt:lpstr>Arial</vt:lpstr>
      <vt:lpstr>Wingdings</vt:lpstr>
      <vt:lpstr>Office 테마</vt:lpstr>
      <vt:lpstr>출생지역별 인구구조 변화 분석</vt:lpstr>
      <vt:lpstr>2020년 지역별 인구 VS 출생지별 인구  </vt:lpstr>
      <vt:lpstr>2020년 전남 출생 현 거주지 VS 전남 거주민 출생지  </vt:lpstr>
      <vt:lpstr>4대 권역: 2020년 서울 출생 현 거주지 VS 서울 거주민 출생지  </vt:lpstr>
      <vt:lpstr>4대 권역: 2020 ‘도 지역‘ 출생 현 거주지 VS ‘도 지역’ 거주민 출생지  </vt:lpstr>
      <vt:lpstr>시도별 및 성별 청년 인구 잔류비율(PPNYR), 2020  </vt:lpstr>
      <vt:lpstr>4대 권역별 연령별 청년 인구 잔류비율(PPNYR), 2020  </vt:lpstr>
      <vt:lpstr>주요 결과 요약 및 함의</vt:lpstr>
      <vt:lpstr>출생지역별 출산 수준 및 변화</vt:lpstr>
      <vt:lpstr>출생지별 여성의 코호트 완결출산율 </vt:lpstr>
      <vt:lpstr>현 거주지 및 출생지별 여성의 코호트 완결출산율 </vt:lpstr>
      <vt:lpstr>코호트 완결출산율의 출생지 또는 거주지별 인구학적 분해분석  </vt:lpstr>
      <vt:lpstr>여성(15-49세)의 총출생아수에 관한 포아송 회귀분석 결과, 1990-2020  </vt:lpstr>
      <vt:lpstr>총출생아수에 관한 포아송 회귀 기반 Oxaca-Blinder 분해분석  </vt:lpstr>
      <vt:lpstr>주요 결과 요약 및 함의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SHY</dc:creator>
  <cp:lastModifiedBy>Sam</cp:lastModifiedBy>
  <cp:revision>62</cp:revision>
  <dcterms:created xsi:type="dcterms:W3CDTF">2025-07-10T06:54:13Z</dcterms:created>
  <dcterms:modified xsi:type="dcterms:W3CDTF">2025-11-24T15:23:17Z</dcterms:modified>
</cp:coreProperties>
</file>